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9" r:id="rId5"/>
    <p:sldId id="258" r:id="rId6"/>
    <p:sldId id="292" r:id="rId7"/>
    <p:sldId id="293" r:id="rId8"/>
    <p:sldId id="266" r:id="rId9"/>
    <p:sldId id="271" r:id="rId10"/>
    <p:sldId id="270" r:id="rId11"/>
    <p:sldId id="261" r:id="rId12"/>
    <p:sldId id="272" r:id="rId13"/>
    <p:sldId id="287" r:id="rId14"/>
    <p:sldId id="262" r:id="rId15"/>
    <p:sldId id="267" r:id="rId16"/>
    <p:sldId id="263" r:id="rId17"/>
    <p:sldId id="264" r:id="rId18"/>
    <p:sldId id="265" r:id="rId19"/>
    <p:sldId id="277" r:id="rId20"/>
    <p:sldId id="276" r:id="rId21"/>
    <p:sldId id="278" r:id="rId22"/>
    <p:sldId id="300" r:id="rId23"/>
    <p:sldId id="301" r:id="rId24"/>
    <p:sldId id="279" r:id="rId25"/>
    <p:sldId id="297" r:id="rId26"/>
    <p:sldId id="290" r:id="rId27"/>
    <p:sldId id="291" r:id="rId28"/>
    <p:sldId id="299" r:id="rId29"/>
    <p:sldId id="302" r:id="rId30"/>
    <p:sldId id="303" r:id="rId31"/>
    <p:sldId id="304" r:id="rId32"/>
    <p:sldId id="306" r:id="rId33"/>
    <p:sldId id="281" r:id="rId34"/>
    <p:sldId id="280" r:id="rId35"/>
    <p:sldId id="294" r:id="rId36"/>
    <p:sldId id="295" r:id="rId37"/>
    <p:sldId id="305" r:id="rId38"/>
    <p:sldId id="282" r:id="rId39"/>
    <p:sldId id="28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CacheBandit\docs\cacheBandit_metric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1988\Documents\Amruth\Files\Projects\QuickPageLite\docs\qpl_Uti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Sheet5!$B$26</c:f>
              <c:strCache>
                <c:ptCount val="1"/>
                <c:pt idx="0">
                  <c:v>DRAM Access Reduction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Sheet5!$C$23:$U$23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Sheet5!$C$26:$U$26</c:f>
              <c:numCache>
                <c:formatCode>General</c:formatCode>
                <c:ptCount val="19"/>
                <c:pt idx="0">
                  <c:v>0</c:v>
                </c:pt>
                <c:pt idx="1">
                  <c:v>9.3525179856115113</c:v>
                </c:pt>
                <c:pt idx="2">
                  <c:v>-10.932944606413994</c:v>
                </c:pt>
                <c:pt idx="3">
                  <c:v>17.149149653740441</c:v>
                </c:pt>
                <c:pt idx="4">
                  <c:v>11.159447200190986</c:v>
                </c:pt>
                <c:pt idx="5">
                  <c:v>0</c:v>
                </c:pt>
                <c:pt idx="6">
                  <c:v>0.56096040757703036</c:v>
                </c:pt>
                <c:pt idx="7">
                  <c:v>-7.4294205052005943E-2</c:v>
                </c:pt>
                <c:pt idx="8">
                  <c:v>-11.483409238776838</c:v>
                </c:pt>
                <c:pt idx="9">
                  <c:v>12.151872083094522</c:v>
                </c:pt>
                <c:pt idx="10">
                  <c:v>-2.7223230490018149</c:v>
                </c:pt>
                <c:pt idx="11">
                  <c:v>-2.4532950112913161</c:v>
                </c:pt>
                <c:pt idx="12">
                  <c:v>-0.11145093566948318</c:v>
                </c:pt>
                <c:pt idx="13">
                  <c:v>-8.5127566894835098</c:v>
                </c:pt>
                <c:pt idx="14">
                  <c:v>-0.27766652263784514</c:v>
                </c:pt>
                <c:pt idx="15">
                  <c:v>0</c:v>
                </c:pt>
                <c:pt idx="16">
                  <c:v>35.762411347517734</c:v>
                </c:pt>
                <c:pt idx="17">
                  <c:v>16.4941</c:v>
                </c:pt>
                <c:pt idx="18">
                  <c:v>9.1822364217252392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80-4A06-B864-187924153C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83783295"/>
        <c:axId val="383790975"/>
      </c:barChart>
      <c:catAx>
        <c:axId val="3837832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790975"/>
        <c:crosses val="autoZero"/>
        <c:auto val="1"/>
        <c:lblAlgn val="ctr"/>
        <c:lblOffset val="100"/>
        <c:noMultiLvlLbl val="0"/>
      </c:catAx>
      <c:valAx>
        <c:axId val="38379097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Reduction</a:t>
                </a:r>
                <a:r>
                  <a:rPr lang="en-US" baseline="0"/>
                  <a:t> 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783295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Cache</a:t>
            </a:r>
            <a:r>
              <a:rPr lang="en-US" baseline="0"/>
              <a:t> Hit-Rate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Sheet5!$B$24</c:f>
              <c:strCache>
                <c:ptCount val="1"/>
                <c:pt idx="0">
                  <c:v>Baseline Hit-Rate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Sheet5!$C$23:$U$23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Sheet5!$C$24:$U$24</c:f>
              <c:numCache>
                <c:formatCode>General</c:formatCode>
                <c:ptCount val="19"/>
                <c:pt idx="0">
                  <c:v>99.691889442682367</c:v>
                </c:pt>
                <c:pt idx="1">
                  <c:v>99.834293003349899</c:v>
                </c:pt>
                <c:pt idx="2">
                  <c:v>99.839962673509859</c:v>
                </c:pt>
                <c:pt idx="3">
                  <c:v>93.234265947210076</c:v>
                </c:pt>
                <c:pt idx="4">
                  <c:v>60.995520056283816</c:v>
                </c:pt>
                <c:pt idx="5">
                  <c:v>99.295130418465007</c:v>
                </c:pt>
                <c:pt idx="6">
                  <c:v>82.637764896299927</c:v>
                </c:pt>
                <c:pt idx="7">
                  <c:v>99.647650435724998</c:v>
                </c:pt>
                <c:pt idx="8">
                  <c:v>99.858496374372379</c:v>
                </c:pt>
                <c:pt idx="9">
                  <c:v>84.260070697400408</c:v>
                </c:pt>
                <c:pt idx="10">
                  <c:v>59.08244847573031</c:v>
                </c:pt>
                <c:pt idx="11">
                  <c:v>51.282692403860572</c:v>
                </c:pt>
                <c:pt idx="12">
                  <c:v>25.762444440168558</c:v>
                </c:pt>
                <c:pt idx="13">
                  <c:v>69.641440284127412</c:v>
                </c:pt>
                <c:pt idx="14">
                  <c:v>52.490001374810966</c:v>
                </c:pt>
                <c:pt idx="15">
                  <c:v>99.996875000000003</c:v>
                </c:pt>
                <c:pt idx="16">
                  <c:v>93.733333333333334</c:v>
                </c:pt>
                <c:pt idx="17">
                  <c:v>93.75</c:v>
                </c:pt>
                <c:pt idx="18">
                  <c:v>93.74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49-4601-B62F-E1C9A219E05F}"/>
            </c:ext>
          </c:extLst>
        </c:ser>
        <c:ser>
          <c:idx val="1"/>
          <c:order val="1"/>
          <c:tx>
            <c:strRef>
              <c:f>Sheet5!$B$25</c:f>
              <c:strCache>
                <c:ptCount val="1"/>
                <c:pt idx="0">
                  <c:v>CacheBandit Hit-Rate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Sheet5!$C$23:$U$23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Sheet5!$C$25:$U$25</c:f>
              <c:numCache>
                <c:formatCode>General</c:formatCode>
                <c:ptCount val="19"/>
                <c:pt idx="0">
                  <c:v>99.691889442682367</c:v>
                </c:pt>
                <c:pt idx="1">
                  <c:v>99.849790780015027</c:v>
                </c:pt>
                <c:pt idx="2">
                  <c:v>99.822465881255113</c:v>
                </c:pt>
                <c:pt idx="3">
                  <c:v>94.394531805097088</c:v>
                </c:pt>
                <c:pt idx="4">
                  <c:v>65.348204401311904</c:v>
                </c:pt>
                <c:pt idx="5">
                  <c:v>99.295130418465007</c:v>
                </c:pt>
                <c:pt idx="6">
                  <c:v>82.735160161102115</c:v>
                </c:pt>
                <c:pt idx="7">
                  <c:v>99.647388660417207</c:v>
                </c:pt>
                <c:pt idx="8">
                  <c:v>99.842246933953845</c:v>
                </c:pt>
                <c:pt idx="9">
                  <c:v>86.172766772221806</c:v>
                </c:pt>
                <c:pt idx="10">
                  <c:v>57.968540539497923</c:v>
                </c:pt>
                <c:pt idx="11">
                  <c:v>50.087513126969043</c:v>
                </c:pt>
                <c:pt idx="12">
                  <c:v>25.679705989878972</c:v>
                </c:pt>
                <c:pt idx="13">
                  <c:v>67.057089961083619</c:v>
                </c:pt>
                <c:pt idx="14">
                  <c:v>52.35808201372312</c:v>
                </c:pt>
                <c:pt idx="15">
                  <c:v>99.996875000000003</c:v>
                </c:pt>
                <c:pt idx="16">
                  <c:v>95.974444444444444</c:v>
                </c:pt>
                <c:pt idx="17">
                  <c:v>94.780881250000007</c:v>
                </c:pt>
                <c:pt idx="18">
                  <c:v>94.314807999999999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49-4601-B62F-E1C9A219E05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83804895"/>
        <c:axId val="383797695"/>
      </c:lineChart>
      <c:catAx>
        <c:axId val="3838048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797695"/>
        <c:crosses val="autoZero"/>
        <c:auto val="1"/>
        <c:lblAlgn val="ctr"/>
        <c:lblOffset val="100"/>
        <c:noMultiLvlLbl val="0"/>
      </c:catAx>
      <c:valAx>
        <c:axId val="38379769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Hit-Rate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804895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Sheet5!$B$87</c:f>
              <c:strCache>
                <c:ptCount val="1"/>
                <c:pt idx="0">
                  <c:v>DRAM Access Reduction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Sheet5!$C$84:$U$84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Sheet5!$C$87:$U$87</c:f>
              <c:numCache>
                <c:formatCode>General</c:formatCode>
                <c:ptCount val="19"/>
                <c:pt idx="0">
                  <c:v>0</c:v>
                </c:pt>
                <c:pt idx="1">
                  <c:v>9.3525179856115113</c:v>
                </c:pt>
                <c:pt idx="2">
                  <c:v>0</c:v>
                </c:pt>
                <c:pt idx="3">
                  <c:v>18.048704377152873</c:v>
                </c:pt>
                <c:pt idx="4">
                  <c:v>10.411416748454865</c:v>
                </c:pt>
                <c:pt idx="5">
                  <c:v>0</c:v>
                </c:pt>
                <c:pt idx="6">
                  <c:v>0.64225901737080293</c:v>
                </c:pt>
                <c:pt idx="7">
                  <c:v>0</c:v>
                </c:pt>
                <c:pt idx="8">
                  <c:v>0</c:v>
                </c:pt>
                <c:pt idx="9">
                  <c:v>12.164738633572339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35.883687943262409</c:v>
                </c:pt>
                <c:pt idx="17">
                  <c:v>16.549500000000002</c:v>
                </c:pt>
                <c:pt idx="18">
                  <c:v>9.1822364217252392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1-4173-8323-62CE46F1FA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16096159"/>
        <c:axId val="1316102879"/>
      </c:barChart>
      <c:catAx>
        <c:axId val="13160961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102879"/>
        <c:crosses val="autoZero"/>
        <c:auto val="1"/>
        <c:lblAlgn val="ctr"/>
        <c:lblOffset val="100"/>
        <c:noMultiLvlLbl val="0"/>
      </c:catAx>
      <c:valAx>
        <c:axId val="1316102879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Reduction</a:t>
                </a:r>
                <a:r>
                  <a:rPr lang="en-US" baseline="0"/>
                  <a:t> 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09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Cache</a:t>
            </a:r>
            <a:r>
              <a:rPr lang="en-US" baseline="0"/>
              <a:t> Hit-Rate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Sheet5!$B$85</c:f>
              <c:strCache>
                <c:ptCount val="1"/>
                <c:pt idx="0">
                  <c:v>Baseline Hit-Rate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Sheet5!$C$84:$U$84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Sheet5!$C$85:$U$85</c:f>
              <c:numCache>
                <c:formatCode>General</c:formatCode>
                <c:ptCount val="19"/>
                <c:pt idx="0">
                  <c:v>99.691889442682367</c:v>
                </c:pt>
                <c:pt idx="1">
                  <c:v>99.834293003349899</c:v>
                </c:pt>
                <c:pt idx="2">
                  <c:v>99.839962673509859</c:v>
                </c:pt>
                <c:pt idx="3">
                  <c:v>93.234265947210076</c:v>
                </c:pt>
                <c:pt idx="4">
                  <c:v>60.995520056283816</c:v>
                </c:pt>
                <c:pt idx="5">
                  <c:v>99.295130418465007</c:v>
                </c:pt>
                <c:pt idx="6">
                  <c:v>82.637764896299927</c:v>
                </c:pt>
                <c:pt idx="7">
                  <c:v>99.647650435724998</c:v>
                </c:pt>
                <c:pt idx="8">
                  <c:v>99.858496374372379</c:v>
                </c:pt>
                <c:pt idx="9">
                  <c:v>84.260070697400408</c:v>
                </c:pt>
                <c:pt idx="10">
                  <c:v>59.08244847573031</c:v>
                </c:pt>
                <c:pt idx="11">
                  <c:v>51.282692403860572</c:v>
                </c:pt>
                <c:pt idx="12">
                  <c:v>25.762444440168558</c:v>
                </c:pt>
                <c:pt idx="13">
                  <c:v>69.641440284127412</c:v>
                </c:pt>
                <c:pt idx="14">
                  <c:v>52.490001374810966</c:v>
                </c:pt>
                <c:pt idx="15">
                  <c:v>99.996875000000003</c:v>
                </c:pt>
                <c:pt idx="16">
                  <c:v>93.733333333333334</c:v>
                </c:pt>
                <c:pt idx="17">
                  <c:v>93.75</c:v>
                </c:pt>
                <c:pt idx="18">
                  <c:v>93.74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6F-4CB8-A343-CED69AC32E96}"/>
            </c:ext>
          </c:extLst>
        </c:ser>
        <c:ser>
          <c:idx val="1"/>
          <c:order val="1"/>
          <c:tx>
            <c:strRef>
              <c:f>Sheet5!$B$86</c:f>
              <c:strCache>
                <c:ptCount val="1"/>
                <c:pt idx="0">
                  <c:v>CacheBandit Hit-Rate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Sheet5!$C$84:$U$84</c:f>
              <c:strCache>
                <c:ptCount val="19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  <c:pt idx="15">
                  <c:v>KM_2000</c:v>
                </c:pt>
                <c:pt idx="16">
                  <c:v>KM_3000</c:v>
                </c:pt>
                <c:pt idx="17">
                  <c:v>KM_4000</c:v>
                </c:pt>
                <c:pt idx="18">
                  <c:v>KM_5000</c:v>
                </c:pt>
              </c:strCache>
            </c:strRef>
          </c:cat>
          <c:val>
            <c:numRef>
              <c:f>Sheet5!$C$86:$U$86</c:f>
              <c:numCache>
                <c:formatCode>General</c:formatCode>
                <c:ptCount val="19"/>
                <c:pt idx="0">
                  <c:v>99.691889442682367</c:v>
                </c:pt>
                <c:pt idx="1">
                  <c:v>99.849790780015027</c:v>
                </c:pt>
                <c:pt idx="2">
                  <c:v>99.839962673509859</c:v>
                </c:pt>
                <c:pt idx="3">
                  <c:v>94.455393285342495</c:v>
                </c:pt>
                <c:pt idx="4">
                  <c:v>65.056439013791604</c:v>
                </c:pt>
                <c:pt idx="5">
                  <c:v>99.295130418465007</c:v>
                </c:pt>
                <c:pt idx="6">
                  <c:v>82.749275416870546</c:v>
                </c:pt>
                <c:pt idx="7">
                  <c:v>99.647650435724998</c:v>
                </c:pt>
                <c:pt idx="8">
                  <c:v>99.858496374372379</c:v>
                </c:pt>
                <c:pt idx="9">
                  <c:v>86.174791958170701</c:v>
                </c:pt>
                <c:pt idx="10">
                  <c:v>59.08244847573031</c:v>
                </c:pt>
                <c:pt idx="11">
                  <c:v>51.282692403860572</c:v>
                </c:pt>
                <c:pt idx="12">
                  <c:v>25.762444440168558</c:v>
                </c:pt>
                <c:pt idx="13">
                  <c:v>69.641440284127412</c:v>
                </c:pt>
                <c:pt idx="14">
                  <c:v>52.490001374810966</c:v>
                </c:pt>
                <c:pt idx="15">
                  <c:v>99.996875000000003</c:v>
                </c:pt>
                <c:pt idx="16">
                  <c:v>95.982044444444455</c:v>
                </c:pt>
                <c:pt idx="17">
                  <c:v>94.784343750000005</c:v>
                </c:pt>
                <c:pt idx="18">
                  <c:v>94.314807999999999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6F-4CB8-A343-CED69AC32E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6118719"/>
        <c:axId val="1316119199"/>
      </c:lineChart>
      <c:catAx>
        <c:axId val="13161187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119199"/>
        <c:crosses val="autoZero"/>
        <c:auto val="1"/>
        <c:lblAlgn val="ctr"/>
        <c:lblOffset val="100"/>
        <c:noMultiLvlLbl val="0"/>
      </c:catAx>
      <c:valAx>
        <c:axId val="1316119199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Hit-Rate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118719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Sheet1!$B$26</c:f>
              <c:strCache>
                <c:ptCount val="1"/>
                <c:pt idx="0">
                  <c:v>DRAM Access Reduction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Sheet1!$C$23:$Q$23</c:f>
              <c:strCache>
                <c:ptCount val="15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</c:strCache>
            </c:strRef>
          </c:cat>
          <c:val>
            <c:numRef>
              <c:f>Sheet1!$C$26:$Q$26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-29.300291545189506</c:v>
                </c:pt>
                <c:pt idx="3">
                  <c:v>97.211229573071364</c:v>
                </c:pt>
                <c:pt idx="4">
                  <c:v>55.297801181242434</c:v>
                </c:pt>
                <c:pt idx="5">
                  <c:v>0</c:v>
                </c:pt>
                <c:pt idx="6">
                  <c:v>1.6418149751483084</c:v>
                </c:pt>
                <c:pt idx="7">
                  <c:v>4.2666666666666666</c:v>
                </c:pt>
                <c:pt idx="8">
                  <c:v>16.729155507945009</c:v>
                </c:pt>
                <c:pt idx="9">
                  <c:v>77.765237020316022</c:v>
                </c:pt>
                <c:pt idx="10">
                  <c:v>94.344547563805108</c:v>
                </c:pt>
                <c:pt idx="11">
                  <c:v>53.928571428571423</c:v>
                </c:pt>
                <c:pt idx="12">
                  <c:v>44.899603787522665</c:v>
                </c:pt>
                <c:pt idx="13">
                  <c:v>85.744109752460488</c:v>
                </c:pt>
                <c:pt idx="14">
                  <c:v>-0.50284463084607511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D7-4664-AC73-8EE447A075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06228064"/>
        <c:axId val="1406221824"/>
      </c:barChart>
      <c:catAx>
        <c:axId val="14062280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6221824"/>
        <c:crosses val="autoZero"/>
        <c:auto val="1"/>
        <c:lblAlgn val="ctr"/>
        <c:lblOffset val="100"/>
        <c:noMultiLvlLbl val="0"/>
      </c:catAx>
      <c:valAx>
        <c:axId val="14062218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Reduction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6228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Cache Hit-Rate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Sheet1!$B$24</c:f>
              <c:strCache>
                <c:ptCount val="1"/>
                <c:pt idx="0">
                  <c:v>Baseline Hit-Rate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Sheet1!$C$23:$Q$23</c:f>
              <c:strCache>
                <c:ptCount val="15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</c:strCache>
            </c:strRef>
          </c:cat>
          <c:val>
            <c:numRef>
              <c:f>Sheet1!$C$24:$Q$24</c:f>
              <c:numCache>
                <c:formatCode>General</c:formatCode>
                <c:ptCount val="15"/>
                <c:pt idx="0">
                  <c:v>99.804631385393321</c:v>
                </c:pt>
                <c:pt idx="1">
                  <c:v>99.904801480865856</c:v>
                </c:pt>
                <c:pt idx="2">
                  <c:v>99.897115947028212</c:v>
                </c:pt>
                <c:pt idx="3">
                  <c:v>99.249923085599704</c:v>
                </c:pt>
                <c:pt idx="4">
                  <c:v>85.634551495016609</c:v>
                </c:pt>
                <c:pt idx="5">
                  <c:v>99.51951903935786</c:v>
                </c:pt>
                <c:pt idx="6">
                  <c:v>85.452382618431173</c:v>
                </c:pt>
                <c:pt idx="7">
                  <c:v>99.715949054786662</c:v>
                </c:pt>
                <c:pt idx="8">
                  <c:v>99.902192129164362</c:v>
                </c:pt>
                <c:pt idx="9">
                  <c:v>99.882385893741102</c:v>
                </c:pt>
                <c:pt idx="10">
                  <c:v>90.163466750349471</c:v>
                </c:pt>
                <c:pt idx="11">
                  <c:v>84.015603815323132</c:v>
                </c:pt>
                <c:pt idx="12">
                  <c:v>71.354647583871952</c:v>
                </c:pt>
                <c:pt idx="13">
                  <c:v>87.535315985130111</c:v>
                </c:pt>
                <c:pt idx="14">
                  <c:v>46.078210819316226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77-4226-A77C-C021A760B16C}"/>
            </c:ext>
          </c:extLst>
        </c:ser>
        <c:ser>
          <c:idx val="1"/>
          <c:order val="1"/>
          <c:tx>
            <c:strRef>
              <c:f>Sheet1!$B$25</c:f>
              <c:strCache>
                <c:ptCount val="1"/>
                <c:pt idx="0">
                  <c:v>CacheBandit Hit-Rate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Sheet1!$C$23:$Q$23</c:f>
              <c:strCache>
                <c:ptCount val="15"/>
                <c:pt idx="0">
                  <c:v>bcsstk10</c:v>
                </c:pt>
                <c:pt idx="1">
                  <c:v>bcsstk13</c:v>
                </c:pt>
                <c:pt idx="2">
                  <c:v>bcsstk17</c:v>
                </c:pt>
                <c:pt idx="3">
                  <c:v>c8_mat11</c:v>
                </c:pt>
                <c:pt idx="4">
                  <c:v>cq9</c:v>
                </c:pt>
                <c:pt idx="5">
                  <c:v>fv1</c:v>
                </c:pt>
                <c:pt idx="6">
                  <c:v>kl02</c:v>
                </c:pt>
                <c:pt idx="7">
                  <c:v>lhr34c</c:v>
                </c:pt>
                <c:pt idx="8">
                  <c:v>pdb1HYS</c:v>
                </c:pt>
                <c:pt idx="9">
                  <c:v>psmigr_1</c:v>
                </c:pt>
                <c:pt idx="10">
                  <c:v>wiki-Vote</c:v>
                </c:pt>
                <c:pt idx="11">
                  <c:v>p2p-Gnutella04</c:v>
                </c:pt>
                <c:pt idx="12">
                  <c:v>ca-HepTh</c:v>
                </c:pt>
                <c:pt idx="13">
                  <c:v>as-735</c:v>
                </c:pt>
                <c:pt idx="14">
                  <c:v>amazon0312</c:v>
                </c:pt>
              </c:strCache>
            </c:strRef>
          </c:cat>
          <c:val>
            <c:numRef>
              <c:f>Sheet1!$C$25:$Q$25</c:f>
              <c:numCache>
                <c:formatCode>General</c:formatCode>
                <c:ptCount val="15"/>
                <c:pt idx="0">
                  <c:v>99.804631385393321</c:v>
                </c:pt>
                <c:pt idx="1">
                  <c:v>99.90603115887447</c:v>
                </c:pt>
                <c:pt idx="2">
                  <c:v>99.870745493943105</c:v>
                </c:pt>
                <c:pt idx="3">
                  <c:v>99.985138139627551</c:v>
                </c:pt>
                <c:pt idx="4">
                  <c:v>94.522435170814219</c:v>
                </c:pt>
                <c:pt idx="5">
                  <c:v>99.521092641879292</c:v>
                </c:pt>
                <c:pt idx="6">
                  <c:v>87.260932224155766</c:v>
                </c:pt>
                <c:pt idx="7">
                  <c:v>99.788656941353764</c:v>
                </c:pt>
                <c:pt idx="8">
                  <c:v>99.933753651077183</c:v>
                </c:pt>
                <c:pt idx="9">
                  <c:v>99.974959356620701</c:v>
                </c:pt>
                <c:pt idx="10">
                  <c:v>99.514256771343639</c:v>
                </c:pt>
                <c:pt idx="11">
                  <c:v>93.135559398696287</c:v>
                </c:pt>
                <c:pt idx="12">
                  <c:v>84.433989110432364</c:v>
                </c:pt>
                <c:pt idx="13">
                  <c:v>98.383934005003709</c:v>
                </c:pt>
                <c:pt idx="14">
                  <c:v>49.251804673890618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77-4226-A77C-C021A760B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1394560"/>
        <c:axId val="1771381600"/>
      </c:lineChart>
      <c:catAx>
        <c:axId val="17713945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Matrix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1381600"/>
        <c:crosses val="autoZero"/>
        <c:auto val="1"/>
        <c:lblAlgn val="ctr"/>
        <c:lblOffset val="100"/>
        <c:noMultiLvlLbl val="0"/>
      </c:catAx>
      <c:valAx>
        <c:axId val="177138160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Hit-Rate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1394560"/>
        <c:crosses val="autoZero"/>
        <c:crossBetween val="between"/>
        <c:min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Single-Port LUT</a:t>
            </a:r>
            <a:r>
              <a:rPr lang="en-US" sz="2400" b="1" baseline="0"/>
              <a:t> Utilization</a:t>
            </a:r>
            <a:endParaRPr lang="en-US" sz="24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SP2</c:v>
          </c:tx>
          <c:spPr>
            <a:ln w="2540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3500">
                <a:solidFill>
                  <a:schemeClr val="accent1"/>
                </a:solidFill>
              </a:ln>
              <a:effectLst/>
            </c:spPr>
          </c:marker>
          <c:xVal>
            <c:numRef>
              <c:f>('Sheet1 (2)'!$B$3,'Sheet1 (2)'!$B$7,'Sheet1 (2)'!$B$11,'Sheet1 (2)'!$B$15,'Sheet1 (2)'!$B$19,'Sheet1 (2)'!$B$23)</c:f>
              <c:numCache>
                <c:formatCode>General</c:formatCode>
                <c:ptCount val="6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</c:numCache>
            </c:numRef>
          </c:xVal>
          <c:yVal>
            <c:numRef>
              <c:f>('Sheet1 (2)'!$D$3,'Sheet1 (2)'!$D$7,'Sheet1 (2)'!$D$11,'Sheet1 (2)'!$D$15,'Sheet1 (2)'!$D$19,'Sheet1 (2)'!$D$23)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6</c:v>
                </c:pt>
                <c:pt idx="4">
                  <c:v>13</c:v>
                </c:pt>
                <c:pt idx="5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F8-46D2-8698-3B9FC5FAA1C0}"/>
            </c:ext>
          </c:extLst>
        </c:ser>
        <c:ser>
          <c:idx val="1"/>
          <c:order val="1"/>
          <c:tx>
            <c:v>SP4</c:v>
          </c:tx>
          <c:spPr>
            <a:ln w="254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63500">
                <a:solidFill>
                  <a:schemeClr val="accent2"/>
                </a:solidFill>
              </a:ln>
              <a:effectLst/>
            </c:spPr>
          </c:marker>
          <c:xVal>
            <c:numRef>
              <c:f>('Sheet1 (2)'!$B$4,'Sheet1 (2)'!$B$8,'Sheet1 (2)'!$B$12,'Sheet1 (2)'!$B$16,'Sheet1 (2)'!$B$20,'Sheet1 (2)'!$B$24)</c:f>
              <c:numCache>
                <c:formatCode>General</c:formatCode>
                <c:ptCount val="6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</c:numCache>
            </c:numRef>
          </c:xVal>
          <c:yVal>
            <c:numRef>
              <c:f>('Sheet1 (2)'!$D$4,'Sheet1 (2)'!$D$8,'Sheet1 (2)'!$D$12,'Sheet1 (2)'!$D$16,'Sheet1 (2)'!$D$20,'Sheet1 (2)'!$D$24)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17</c:v>
                </c:pt>
                <c:pt idx="5">
                  <c:v>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6F8-46D2-8698-3B9FC5FAA1C0}"/>
            </c:ext>
          </c:extLst>
        </c:ser>
        <c:ser>
          <c:idx val="2"/>
          <c:order val="2"/>
          <c:tx>
            <c:v>SP8</c:v>
          </c:tx>
          <c:spPr>
            <a:ln w="254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63500">
                <a:solidFill>
                  <a:schemeClr val="accent3"/>
                </a:solidFill>
              </a:ln>
              <a:effectLst/>
            </c:spPr>
          </c:marker>
          <c:xVal>
            <c:numRef>
              <c:f>('Sheet1 (2)'!$B$5,'Sheet1 (2)'!$B$9,'Sheet1 (2)'!$B$13,'Sheet1 (2)'!$B$17,'Sheet1 (2)'!$B$21,'Sheet1 (2)'!$B$25)</c:f>
              <c:numCache>
                <c:formatCode>General</c:formatCode>
                <c:ptCount val="6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</c:numCache>
            </c:numRef>
          </c:xVal>
          <c:yVal>
            <c:numRef>
              <c:f>('Sheet1 (2)'!$D$5,'Sheet1 (2)'!$D$9,'Sheet1 (2)'!$D$13,'Sheet1 (2)'!$D$17,'Sheet1 (2)'!$D$21,'Sheet1 (2)'!$D$25)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12</c:v>
                </c:pt>
                <c:pt idx="4">
                  <c:v>25</c:v>
                </c:pt>
                <c:pt idx="5">
                  <c:v>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6F8-46D2-8698-3B9FC5FAA1C0}"/>
            </c:ext>
          </c:extLst>
        </c:ser>
        <c:ser>
          <c:idx val="3"/>
          <c:order val="3"/>
          <c:tx>
            <c:v>SP16</c:v>
          </c:tx>
          <c:spPr>
            <a:ln w="25400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63500">
                <a:solidFill>
                  <a:schemeClr val="accent4"/>
                </a:solidFill>
              </a:ln>
              <a:effectLst/>
            </c:spPr>
          </c:marker>
          <c:xVal>
            <c:numRef>
              <c:f>('Sheet1 (2)'!$B$6,'Sheet1 (2)'!$B$10,'Sheet1 (2)'!$B$14,'Sheet1 (2)'!$B$18,'Sheet1 (2)'!$B$22,'Sheet1 (2)'!$B$26)</c:f>
              <c:numCache>
                <c:formatCode>General</c:formatCode>
                <c:ptCount val="6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  <c:pt idx="5">
                  <c:v>512</c:v>
                </c:pt>
              </c:numCache>
            </c:numRef>
          </c:xVal>
          <c:yVal>
            <c:numRef>
              <c:f>('Sheet1 (2)'!$D$6,'Sheet1 (2)'!$D$10,'Sheet1 (2)'!$D$14,'Sheet1 (2)'!$D$18,'Sheet1 (2)'!$D$22,'Sheet1 (2)'!$D$26)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20</c:v>
                </c:pt>
                <c:pt idx="4">
                  <c:v>41</c:v>
                </c:pt>
                <c:pt idx="5">
                  <c:v>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6F8-46D2-8698-3B9FC5FAA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6092799"/>
        <c:axId val="456093279"/>
      </c:scatterChart>
      <c:valAx>
        <c:axId val="456092799"/>
        <c:scaling>
          <c:logBase val="2"/>
          <c:orientation val="minMax"/>
          <c:max val="1024"/>
          <c:min val="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Shared Memory Lines (MAU)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6093279"/>
        <c:crosses val="autoZero"/>
        <c:crossBetween val="midCat"/>
      </c:valAx>
      <c:valAx>
        <c:axId val="45609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LUT Utilization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60927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5152-C510-5441-3FF9-6149427A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296C1-1349-34FB-E9BB-6D0F9EEF9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9BF32-FAA6-4192-ED9D-C21FA712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430E8-6910-5552-0135-FB89E352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48F1C-8D6E-AFD3-FD08-FD939007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7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7AFB-13F9-E7A9-CB68-45224C3C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D6330-F90A-3478-C5A4-83D7230B9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68E8-A957-1123-0158-E6624F9D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A269-A598-FAC4-F341-82AF2D1B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A9EAA-BD56-EFBF-94C8-EB313018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3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CC88-2DA4-8C80-A3C1-F50610E08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7C24A-5BEF-A312-961D-7243751A0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AE49-0F8E-D6CF-6B4D-A69C33B3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1E11-59A1-9519-01E1-D2F0FDD7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513FB-18CB-4872-EA19-A6B9C28D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1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F796-2B3B-F639-F4BE-49E14DAB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1943-56DF-C8AB-5D80-3F92D71C2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3A59E-8EE4-1205-44B1-13F6DF07A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AFDE7-0A9C-65B4-93D5-7EBA72E3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AE702-1A38-5BAD-CF11-2249132A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5D997-5836-802B-82CB-8F47B839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5202-342A-51DA-94DC-838D7388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21F2B-0EB4-33CF-37A5-1F7C6897C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47937-EB10-B4B5-8C84-1277C4886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76C69-8D64-C029-272D-619831A56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041B3-7A74-E89D-14F3-B4D6C6093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4171EB-B504-2678-B832-84C75AD6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0D949-60D8-1DB6-26E0-3311975A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B9B95-53F2-CEC5-4753-A6CFA044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9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C3F3-DFB5-3F9F-EAF1-EE568FE1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E947F-AC82-CD9B-BDC1-CB9EBD3A8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EA079-617E-5963-5807-68F2265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2BECC-2D64-DE00-FF0A-F63C30C8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0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183E5-BF95-7D87-B263-988F026A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BFF8E-8D40-DC04-48DC-A28EB9CE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F369A-F3E3-7286-9A1A-B154BBEF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6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B345-C1EC-A54B-8165-F0BF5865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1F0FD-8AB2-AD4C-8AAD-7CECA93D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29411-11AE-7CF8-A738-4FC0043E7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E340B-82A7-C66D-2D0C-2A354C0E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FBBA1-D998-11F3-841A-6D3238D4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7CE7F-B0CF-F346-85A0-FFDA8EAC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5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035D-6A8A-AACC-73D0-CC679CF7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D945B-D1CB-F886-DFCF-8E253CD94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C2D8-489A-785D-F671-1AA9BE832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EF83E-FFF1-D3E6-A543-716D06FA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1D129-628A-0819-0F89-5C2BF0F4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606EF-CCF3-1FA8-FB80-4568B65A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2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4F47-93AE-3798-AA56-FE28A3F2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4FE1D-8E83-54BE-0943-F15D93D69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51F7-BE97-9AB4-C442-F921811D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FEB7-2F7D-6524-C7B1-935AE31C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0F6BF-67AA-73D0-6602-5B26F5E8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1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31BE5-F712-6128-0FAA-66A7D4909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4FD55-E04B-3F0E-9C07-31E95622B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214F0-7D9C-6A2F-1FA9-9137E382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9D808-70CB-50E6-3D48-2D7F4862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4D07D-2560-054C-FCF7-1F5954A6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2851D-D381-F6C6-646D-586BFA87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FD0CD-351A-906D-F813-DF1434DC2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51D88-F851-6C6E-FF86-B1AADAC7B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9166C-4635-413B-ACE2-A2332F1FDE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5DB1B-AE7B-D3BE-91D3-18FFDE270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9A55-34D7-6870-0BF0-8A0E9153B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598A3-A0C3-4C02-B068-021E1BF77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3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E65B-C04A-9C66-AE85-C5803A421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E9AD7-A9B7-CA97-50ED-F9F4BE9A2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Framework Towards Improving Shared Tightly-Coupled-Memory ($) Efficiency in Embedded SIMT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99313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99C5-5F99-4A97-AA9C-FEFDA854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80441-7B28-14B3-0751-8680B7C4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Multiple contemporary Scientific Computing / Industrial (HPC) applications involve Sparse-Matrix (</a:t>
            </a:r>
            <a:r>
              <a:rPr lang="en-US" dirty="0" err="1"/>
              <a:t>SpM</a:t>
            </a:r>
            <a:r>
              <a:rPr lang="en-US" dirty="0"/>
              <a:t>) solvers, such as in FEM, CFD, Structural-Modeling, Graph Processing, and AI Edge-Inference [1 - 5].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SpM</a:t>
            </a:r>
            <a:r>
              <a:rPr lang="en-US" dirty="0"/>
              <a:t> streaming kernels such as </a:t>
            </a:r>
            <a:r>
              <a:rPr lang="en-US" dirty="0" err="1"/>
              <a:t>SpMV</a:t>
            </a:r>
            <a:r>
              <a:rPr lang="en-US" dirty="0"/>
              <a:t> are memory-bound rather than compute-bound. Largely limited by the available bandwidth between compute units and off-chip memory, through the memory hierarchy.</a:t>
            </a:r>
          </a:p>
        </p:txBody>
      </p:sp>
    </p:spTree>
    <p:extLst>
      <p:ext uri="{BB962C8B-B14F-4D97-AF65-F5344CB8AC3E}">
        <p14:creationId xmlns:p14="http://schemas.microsoft.com/office/powerpoint/2010/main" val="281664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0B19-9484-C317-224A-130EE2F7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6DF6-ECFD-B3FB-C2A3-8EF73FD0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058C-90C7-CA91-2410-BB4ADD685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Multiple contemporary Scientific Computing / Industrial (HPC) applications involve Sparse-Matrix (</a:t>
            </a:r>
            <a:r>
              <a:rPr lang="en-US" dirty="0" err="1"/>
              <a:t>SpM</a:t>
            </a:r>
            <a:r>
              <a:rPr lang="en-US" dirty="0"/>
              <a:t>) solvers [1 - 5].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SpM</a:t>
            </a:r>
            <a:r>
              <a:rPr lang="en-US" dirty="0"/>
              <a:t> streaming kernels tend to be memory-bound rather than compute-bound [6].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Hence benefiting from Near-Data-Processing (NDP)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96957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502A-B8BF-0C68-5B37-A3844D37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762"/>
          </a:xfrm>
        </p:spPr>
        <p:txBody>
          <a:bodyPr/>
          <a:lstStyle/>
          <a:p>
            <a:r>
              <a:rPr lang="en-US" dirty="0"/>
              <a:t>Introduction: Memory Bottleneck Classes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AA8CB-DD6B-150C-ADA7-C611BA3EB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680" y="1178887"/>
            <a:ext cx="8260080" cy="558301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4BDDD5-F933-8602-89A3-54EB33849306}"/>
              </a:ext>
            </a:extLst>
          </p:cNvPr>
          <p:cNvSpPr txBox="1"/>
          <p:nvPr/>
        </p:nvSpPr>
        <p:spPr>
          <a:xfrm>
            <a:off x="10765410" y="6308208"/>
            <a:ext cx="67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[6]</a:t>
            </a:r>
          </a:p>
        </p:txBody>
      </p:sp>
    </p:spTree>
    <p:extLst>
      <p:ext uri="{BB962C8B-B14F-4D97-AF65-F5344CB8AC3E}">
        <p14:creationId xmlns:p14="http://schemas.microsoft.com/office/powerpoint/2010/main" val="192253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6DBE-1BDE-9819-7232-0D92E97F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Near Data Processing (NDP)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7CE72C-F51A-59FA-C4AC-520F1DA84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840" y="1825625"/>
            <a:ext cx="7994319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E1A8EE-054A-AD53-CB9D-5FAD585E46E6}"/>
              </a:ext>
            </a:extLst>
          </p:cNvPr>
          <p:cNvSpPr txBox="1"/>
          <p:nvPr/>
        </p:nvSpPr>
        <p:spPr>
          <a:xfrm>
            <a:off x="10765410" y="6308208"/>
            <a:ext cx="679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[6]</a:t>
            </a:r>
          </a:p>
        </p:txBody>
      </p:sp>
    </p:spTree>
    <p:extLst>
      <p:ext uri="{BB962C8B-B14F-4D97-AF65-F5344CB8AC3E}">
        <p14:creationId xmlns:p14="http://schemas.microsoft.com/office/powerpoint/2010/main" val="34715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A15E-8636-6572-7BA5-DB50158B8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SpMV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C03C1-C5D5-4543-2ABF-A4B41B6CE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just">
              <a:spcAft>
                <a:spcPts val="1800"/>
              </a:spcAft>
            </a:pPr>
            <a:r>
              <a:rPr lang="en-US" dirty="0" err="1"/>
              <a:t>SpMV</a:t>
            </a:r>
            <a:r>
              <a:rPr lang="en-US" dirty="0"/>
              <a:t> is ubiquitous in HPC and is chosen for NDP cache enhancement study due to high LFMR and high MPKI.</a:t>
            </a:r>
          </a:p>
          <a:p>
            <a:pPr algn="just">
              <a:spcAft>
                <a:spcPts val="1800"/>
              </a:spcAft>
            </a:pPr>
            <a:r>
              <a:rPr lang="en-US" dirty="0" err="1"/>
              <a:t>SpMV</a:t>
            </a:r>
            <a:r>
              <a:rPr lang="en-US" dirty="0"/>
              <a:t> kernels are currently run on GPGPUs [8, 9] with compute-centric architectures.</a:t>
            </a:r>
          </a:p>
          <a:p>
            <a:pPr algn="just">
              <a:spcAft>
                <a:spcPts val="1800"/>
              </a:spcAft>
            </a:pPr>
            <a:r>
              <a:rPr lang="en-US" dirty="0"/>
              <a:t>SIMT architecture maximum throughput achieved by scheduling workloads across threads to hide latencies [10].</a:t>
            </a:r>
          </a:p>
          <a:p>
            <a:pPr algn="just">
              <a:spcAft>
                <a:spcPts val="1800"/>
              </a:spcAft>
            </a:pPr>
            <a:r>
              <a:rPr lang="en-US" dirty="0" err="1"/>
              <a:t>SpMV</a:t>
            </a:r>
            <a:r>
              <a:rPr lang="en-US" dirty="0"/>
              <a:t> streams on SIMT exhibit poor temporal locality. Resulting in exacerbated cache line (thrashing) conflicts [11].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2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E7EA-23BD-5DF8-1DD7-7296C65C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: Representation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BDB6B-3A2F-5D95-5A26-CCEC64CA0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739" y="1414593"/>
            <a:ext cx="8833989" cy="50782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4477C8-1955-C347-33DE-C1274B7989CF}"/>
              </a:ext>
            </a:extLst>
          </p:cNvPr>
          <p:cNvSpPr txBox="1"/>
          <p:nvPr/>
        </p:nvSpPr>
        <p:spPr>
          <a:xfrm>
            <a:off x="10708849" y="6123543"/>
            <a:ext cx="81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[12]</a:t>
            </a:r>
          </a:p>
        </p:txBody>
      </p:sp>
    </p:spTree>
    <p:extLst>
      <p:ext uri="{BB962C8B-B14F-4D97-AF65-F5344CB8AC3E}">
        <p14:creationId xmlns:p14="http://schemas.microsoft.com/office/powerpoint/2010/main" val="322309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614A-90D9-C291-FD7E-EFB74F45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r>
              <a:rPr lang="en-US" dirty="0"/>
              <a:t>Problem: Cache Resource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103B5-D5E1-56D3-407D-A5DB9AD1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54421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Thrashing of a ‘Set-Associative’ (SA) TCM$ (L1D) due to multiple physical addresses mapping to the same block/line/frame.</a:t>
            </a:r>
          </a:p>
          <a:p>
            <a:pPr lvl="1" algn="just"/>
            <a:r>
              <a:rPr lang="en-US" dirty="0"/>
              <a:t>-&gt; Barrier = Hardware implementing Associativity (Field-of-View).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Results in increased DRAM memory traffic due unnecessary evictions in TCM$.</a:t>
            </a:r>
          </a:p>
          <a:p>
            <a:pPr lvl="1" algn="just"/>
            <a:r>
              <a:rPr lang="en-US" dirty="0"/>
              <a:t>-&gt; Barrier = Cache contention (SA mapping).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Thus, requiring larger DRAM bandwidth, leading to:</a:t>
            </a:r>
          </a:p>
          <a:p>
            <a:pPr lvl="1" algn="just"/>
            <a:r>
              <a:rPr lang="en-US" dirty="0"/>
              <a:t>(1) Slower execution time -&gt; </a:t>
            </a:r>
            <a:r>
              <a:rPr lang="en-US" dirty="0" err="1"/>
              <a:t>T</a:t>
            </a:r>
            <a:r>
              <a:rPr lang="en-US" sz="2000" dirty="0" err="1"/>
              <a:t>spmv_lower_bound</a:t>
            </a:r>
            <a:r>
              <a:rPr lang="en-US" dirty="0"/>
              <a:t> ∝ No. of DRAM access.</a:t>
            </a:r>
          </a:p>
          <a:p>
            <a:pPr lvl="1" algn="just"/>
            <a:r>
              <a:rPr lang="en-US" dirty="0"/>
              <a:t>(2) Higher energy consumption -&gt; </a:t>
            </a:r>
            <a:r>
              <a:rPr lang="en-US" dirty="0" err="1"/>
              <a:t>E</a:t>
            </a:r>
            <a:r>
              <a:rPr lang="en-US" sz="2000" dirty="0" err="1"/>
              <a:t>spmv_lower_bound</a:t>
            </a:r>
            <a:r>
              <a:rPr lang="en-US" dirty="0"/>
              <a:t> ∝ No. of DRAM access.</a:t>
            </a:r>
          </a:p>
          <a:p>
            <a:pPr lvl="1" algn="just"/>
            <a:r>
              <a:rPr lang="en-US" dirty="0"/>
              <a:t>(3) Lower Cache Efficiency -&gt; Bloating of DRAM access beyond necessary.</a:t>
            </a:r>
          </a:p>
        </p:txBody>
      </p:sp>
    </p:spTree>
    <p:extLst>
      <p:ext uri="{BB962C8B-B14F-4D97-AF65-F5344CB8AC3E}">
        <p14:creationId xmlns:p14="http://schemas.microsoft.com/office/powerpoint/2010/main" val="709864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A914-76B7-ED00-C93E-4300E133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9E58C-058E-9B1D-8D61-36EB91C4E594}"/>
              </a:ext>
            </a:extLst>
          </p:cNvPr>
          <p:cNvSpPr txBox="1"/>
          <p:nvPr/>
        </p:nvSpPr>
        <p:spPr>
          <a:xfrm>
            <a:off x="2413681" y="6454960"/>
            <a:ext cx="811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*https://gpuopen.com/learn/amd-lab-notes/amd-lab-notes-spmv-docs-spmv_part1/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67DD07-1099-7F06-D5D5-1E32A67FA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332" y="129124"/>
            <a:ext cx="6419654" cy="6395183"/>
          </a:xfrm>
        </p:spPr>
      </p:pic>
    </p:spTree>
    <p:extLst>
      <p:ext uri="{BB962C8B-B14F-4D97-AF65-F5344CB8AC3E}">
        <p14:creationId xmlns:p14="http://schemas.microsoft.com/office/powerpoint/2010/main" val="649804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8F45-EAB1-10EC-1BB7-7E6D14E9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726978-792A-29B3-FC85-DF6D758D1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806" y="377952"/>
            <a:ext cx="4562573" cy="636902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6A1730-015C-F235-A923-3F7FF3617AF7}"/>
              </a:ext>
            </a:extLst>
          </p:cNvPr>
          <p:cNvSpPr txBox="1"/>
          <p:nvPr/>
        </p:nvSpPr>
        <p:spPr>
          <a:xfrm>
            <a:off x="10539167" y="6308208"/>
            <a:ext cx="90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[11]</a:t>
            </a:r>
          </a:p>
        </p:txBody>
      </p:sp>
    </p:spTree>
    <p:extLst>
      <p:ext uri="{BB962C8B-B14F-4D97-AF65-F5344CB8AC3E}">
        <p14:creationId xmlns:p14="http://schemas.microsoft.com/office/powerpoint/2010/main" val="2364926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DEA5-E292-4DCD-A4A4-7191400D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D3D7C-A0EA-30CC-FC94-07F5ED486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6560" y="227836"/>
            <a:ext cx="8397240" cy="646695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FB1363-05B3-921F-98D8-68C3A925E5AC}"/>
              </a:ext>
            </a:extLst>
          </p:cNvPr>
          <p:cNvSpPr txBox="1"/>
          <p:nvPr/>
        </p:nvSpPr>
        <p:spPr>
          <a:xfrm>
            <a:off x="838200" y="6123543"/>
            <a:ext cx="90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[11]</a:t>
            </a:r>
          </a:p>
        </p:txBody>
      </p:sp>
    </p:spTree>
    <p:extLst>
      <p:ext uri="{BB962C8B-B14F-4D97-AF65-F5344CB8AC3E}">
        <p14:creationId xmlns:p14="http://schemas.microsoft.com/office/powerpoint/2010/main" val="79008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AF2C-0756-438E-BD90-A3F057BF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FE2AA-DE56-F5A2-365D-4E16E36E1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668" y="112350"/>
            <a:ext cx="7861572" cy="661356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87DB9C-2415-FA76-220E-3389570879D2}"/>
              </a:ext>
            </a:extLst>
          </p:cNvPr>
          <p:cNvSpPr txBox="1"/>
          <p:nvPr/>
        </p:nvSpPr>
        <p:spPr>
          <a:xfrm>
            <a:off x="788325" y="6308209"/>
            <a:ext cx="90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[11]</a:t>
            </a:r>
          </a:p>
        </p:txBody>
      </p:sp>
    </p:spTree>
    <p:extLst>
      <p:ext uri="{BB962C8B-B14F-4D97-AF65-F5344CB8AC3E}">
        <p14:creationId xmlns:p14="http://schemas.microsoft.com/office/powerpoint/2010/main" val="412971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E1F8-354F-F74B-2B08-EC75E1E6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2818-67D6-899A-E53A-F026F6D5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769"/>
          </a:xfrm>
        </p:spPr>
        <p:txBody>
          <a:bodyPr/>
          <a:lstStyle/>
          <a:p>
            <a:r>
              <a:rPr lang="en-US" dirty="0"/>
              <a:t>Problem: Embedded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6614-7742-D272-E6FB-7101ED2C7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686"/>
            <a:ext cx="10515600" cy="4753277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SpMV</a:t>
            </a:r>
            <a:r>
              <a:rPr lang="en-US" dirty="0"/>
              <a:t> on deep-cache-hierarchy architectures (GPGPU/CPU) can suffer from additional latency introduced by the hierarchy, due to their low arithmetic intensity.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Hence the FPGAs prototype-ability is used to study the effect of NDP cache enhancements on embedded </a:t>
            </a:r>
            <a:r>
              <a:rPr lang="en-US" dirty="0" err="1"/>
              <a:t>SpMV</a:t>
            </a:r>
            <a:r>
              <a:rPr lang="en-US" dirty="0"/>
              <a:t> accelerators.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High-Level-Synthesis (HLS) reduces the effort to port C/C++ </a:t>
            </a:r>
            <a:r>
              <a:rPr lang="en-US" dirty="0" err="1"/>
              <a:t>SpMV</a:t>
            </a:r>
            <a:r>
              <a:rPr lang="en-US" dirty="0"/>
              <a:t> algorithms to FPGA accelerators [12].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B896-76DF-9C47-83BA-793C5423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88BB2-D6CD-A77D-ACA6-E7D9E64EF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313" y="1463040"/>
            <a:ext cx="9723601" cy="502983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AAB50A-1712-9228-73EC-0A0BFCD44426}"/>
              </a:ext>
            </a:extLst>
          </p:cNvPr>
          <p:cNvSpPr txBox="1"/>
          <p:nvPr/>
        </p:nvSpPr>
        <p:spPr>
          <a:xfrm>
            <a:off x="385163" y="6308209"/>
            <a:ext cx="90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[10]</a:t>
            </a:r>
          </a:p>
        </p:txBody>
      </p:sp>
    </p:spTree>
    <p:extLst>
      <p:ext uri="{BB962C8B-B14F-4D97-AF65-F5344CB8AC3E}">
        <p14:creationId xmlns:p14="http://schemas.microsoft.com/office/powerpoint/2010/main" val="331420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A373-FE0C-9C40-E04F-0961CD1D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97F7BC-9EEE-3780-AC75-E78903006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249" y="1432560"/>
            <a:ext cx="9431501" cy="479874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4240F3-595D-C14A-1A5B-54473A7786A4}"/>
              </a:ext>
            </a:extLst>
          </p:cNvPr>
          <p:cNvSpPr txBox="1"/>
          <p:nvPr/>
        </p:nvSpPr>
        <p:spPr>
          <a:xfrm>
            <a:off x="788325" y="6308209"/>
            <a:ext cx="90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[6]</a:t>
            </a:r>
          </a:p>
        </p:txBody>
      </p:sp>
    </p:spTree>
    <p:extLst>
      <p:ext uri="{BB962C8B-B14F-4D97-AF65-F5344CB8AC3E}">
        <p14:creationId xmlns:p14="http://schemas.microsoft.com/office/powerpoint/2010/main" val="2886484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669C-3BF2-24AB-6AFA-3B79257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360"/>
          </a:xfrm>
        </p:spPr>
        <p:txBody>
          <a:bodyPr/>
          <a:lstStyle/>
          <a:p>
            <a:r>
              <a:rPr lang="en-US" dirty="0"/>
              <a:t>Solution Space Exploration: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9F245-7264-6168-6E81-A57909C8E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937452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US" dirty="0"/>
              <a:t>Many approaches exist to reduce cache conflict. Some [13 - 15] involve cache/thread/load-aware scheduling and pre-processing techniques (Access-Pattern-Manipulation) to improve L1D$ utilization.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Other approaches [16 - 20] involve hardware enhancements (Access-Pattern Adaptation) to remedy cache resource conflicts.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In practice, effort on both APM and APA fronts are necessary to maximize $ utilization in irregular memory access patterns.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This work (</a:t>
            </a:r>
            <a:r>
              <a:rPr lang="en-US" dirty="0" err="1"/>
              <a:t>CacheBandit</a:t>
            </a:r>
            <a:r>
              <a:rPr lang="en-US" dirty="0"/>
              <a:t>) falls under the second category of APM enhancement, for NDP SIMT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3537995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E427-C03C-8320-F6C0-D133AC20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0E40-A97C-15D0-1446-C413C6158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Major goals:</a:t>
            </a:r>
          </a:p>
          <a:p>
            <a:pPr lvl="1" algn="just"/>
            <a:r>
              <a:rPr lang="en-US" dirty="0"/>
              <a:t>(1) Reduce cache contention (FA + larger FOV) and maximize TCM$ efficiency.</a:t>
            </a:r>
          </a:p>
          <a:p>
            <a:pPr lvl="1" algn="just"/>
            <a:r>
              <a:rPr lang="en-US" dirty="0"/>
              <a:t>(2) Support concurrent (TDM) Multi-Context access.</a:t>
            </a:r>
          </a:p>
          <a:p>
            <a:pPr lvl="1" algn="just"/>
            <a:r>
              <a:rPr lang="en-US" dirty="0"/>
              <a:t>(3) Tile-able (structurally) / Scalable (Frequency) (Little’s Law).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Target TCM/L1D$ which is present in both compute/memory centric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352014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5FAA-4035-C635-28AD-41EF5DE6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077DB-CD2C-6033-91AD-A3CBC3F8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6"/>
            <a:ext cx="10515600" cy="5003438"/>
          </a:xfrm>
        </p:spPr>
        <p:txBody>
          <a:bodyPr>
            <a:normAutofit/>
          </a:bodyPr>
          <a:lstStyle/>
          <a:p>
            <a:pPr algn="just">
              <a:spcAft>
                <a:spcPts val="2400"/>
              </a:spcAft>
            </a:pPr>
            <a:r>
              <a:rPr lang="en-US" dirty="0"/>
              <a:t>If cache contention (FOV) is the bottleneck and not the cache size, as in the case with streaming applications such as </a:t>
            </a:r>
            <a:r>
              <a:rPr lang="en-US" dirty="0" err="1"/>
              <a:t>SpMV</a:t>
            </a:r>
            <a:r>
              <a:rPr lang="en-US" dirty="0"/>
              <a:t>.</a:t>
            </a:r>
          </a:p>
          <a:p>
            <a:pPr algn="just">
              <a:spcAft>
                <a:spcPts val="2400"/>
              </a:spcAft>
            </a:pPr>
            <a:r>
              <a:rPr lang="en-US" dirty="0"/>
              <a:t>Solution is to use ‘Fully-Associative’ (FA) cache.</a:t>
            </a:r>
          </a:p>
          <a:p>
            <a:pPr algn="just">
              <a:spcAft>
                <a:spcPts val="2400"/>
              </a:spcAft>
            </a:pPr>
            <a:r>
              <a:rPr lang="en-US" dirty="0"/>
              <a:t>But realizing FA cache resources across threads sharing TCM$ is expensive.</a:t>
            </a:r>
          </a:p>
          <a:p>
            <a:pPr algn="just">
              <a:spcAft>
                <a:spcPts val="2400"/>
              </a:spcAft>
            </a:pPr>
            <a:r>
              <a:rPr lang="en-US" dirty="0"/>
              <a:t>Hence, employ a hybrid solution. The TCM$ is FA from a physical memory perspective, but is virtually SA with respect to each individual thread.</a:t>
            </a:r>
          </a:p>
        </p:txBody>
      </p:sp>
    </p:spTree>
    <p:extLst>
      <p:ext uri="{BB962C8B-B14F-4D97-AF65-F5344CB8AC3E}">
        <p14:creationId xmlns:p14="http://schemas.microsoft.com/office/powerpoint/2010/main" val="3507886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798B-4880-0AA4-DD7E-CE8DF133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EF5CC1-2880-895A-67B1-5ADF92299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719" y="365125"/>
            <a:ext cx="6240545" cy="6216757"/>
          </a:xfrm>
        </p:spPr>
      </p:pic>
    </p:spTree>
    <p:extLst>
      <p:ext uri="{BB962C8B-B14F-4D97-AF65-F5344CB8AC3E}">
        <p14:creationId xmlns:p14="http://schemas.microsoft.com/office/powerpoint/2010/main" val="1960240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F4F43-F8F7-F436-BF78-E9AB1F08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811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F76358-106C-2506-8576-E8BB33C67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789" y="365125"/>
            <a:ext cx="5018584" cy="6367534"/>
          </a:xfrm>
        </p:spPr>
      </p:pic>
    </p:spTree>
    <p:extLst>
      <p:ext uri="{BB962C8B-B14F-4D97-AF65-F5344CB8AC3E}">
        <p14:creationId xmlns:p14="http://schemas.microsoft.com/office/powerpoint/2010/main" val="1813144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8546-CF20-C395-C05B-A9A9E2F4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091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Single Warp Simulation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E88DA3-2339-1621-3D77-BDD21668D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972" y="1131216"/>
            <a:ext cx="7324056" cy="5365646"/>
          </a:xfrm>
        </p:spPr>
      </p:pic>
    </p:spTree>
    <p:extLst>
      <p:ext uri="{BB962C8B-B14F-4D97-AF65-F5344CB8AC3E}">
        <p14:creationId xmlns:p14="http://schemas.microsoft.com/office/powerpoint/2010/main" val="1261249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AF62-FE68-261D-16D7-206ED35F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512E2-4C19-829E-2A2E-8EA8A30CE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5908" y="1690688"/>
            <a:ext cx="8407141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99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F578-A72D-B442-14EF-8B6522667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1FA3E6-535B-EEC4-1640-A2E0AE90C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589" y="1690688"/>
            <a:ext cx="10496211" cy="44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44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8BE60-4B95-B011-8139-1C1D177D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616B-27A7-5AAE-18E8-F2924550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494"/>
          </a:xfrm>
        </p:spPr>
        <p:txBody>
          <a:bodyPr>
            <a:normAutofit/>
          </a:bodyPr>
          <a:lstStyle/>
          <a:p>
            <a:r>
              <a:rPr lang="en-US" dirty="0" err="1"/>
              <a:t>CacheBandit</a:t>
            </a:r>
            <a:r>
              <a:rPr lang="en-US" dirty="0"/>
              <a:t>: Performance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2F67CB-EB6F-135D-0E74-5B61ED59E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833147"/>
              </p:ext>
            </p:extLst>
          </p:nvPr>
        </p:nvGraphicFramePr>
        <p:xfrm>
          <a:off x="838200" y="1272619"/>
          <a:ext cx="10515600" cy="5220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1924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FA37-7B12-8452-6404-EF06A692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887A11-13BA-F866-9330-CE73B887D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024569"/>
              </p:ext>
            </p:extLst>
          </p:nvPr>
        </p:nvGraphicFramePr>
        <p:xfrm>
          <a:off x="838200" y="1357460"/>
          <a:ext cx="10515600" cy="513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9858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B644-E721-7D6D-4862-DCC96363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FA35A42-F252-D59F-E9A5-AF000711E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379" y="1460528"/>
            <a:ext cx="8061242" cy="407503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708E8B-6413-E771-2549-D7CCD558051E}"/>
              </a:ext>
            </a:extLst>
          </p:cNvPr>
          <p:cNvSpPr txBox="1"/>
          <p:nvPr/>
        </p:nvSpPr>
        <p:spPr>
          <a:xfrm>
            <a:off x="838201" y="552572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 Name = cq9, Group = Meszaros, Kind = linear programming problem.</a:t>
            </a:r>
          </a:p>
          <a:p>
            <a:endParaRPr lang="en-US" dirty="0"/>
          </a:p>
          <a:p>
            <a:r>
              <a:rPr lang="en-US" dirty="0"/>
              <a:t>K = 9278, M = 21534 ; Density = 4.83% ; NNZ = 96653 ; Unique Frames Visited = 1346</a:t>
            </a:r>
          </a:p>
        </p:txBody>
      </p:sp>
    </p:spTree>
    <p:extLst>
      <p:ext uri="{BB962C8B-B14F-4D97-AF65-F5344CB8AC3E}">
        <p14:creationId xmlns:p14="http://schemas.microsoft.com/office/powerpoint/2010/main" val="4105651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3F1D-848B-EB5B-293F-2FE8C087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1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Dynamic Virtual Sets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738A5D-35F8-D4A5-8B5F-E99D0FCFD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138745"/>
              </p:ext>
            </p:extLst>
          </p:nvPr>
        </p:nvGraphicFramePr>
        <p:xfrm>
          <a:off x="838200" y="1248696"/>
          <a:ext cx="10515600" cy="5244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5558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F2823-5E8F-2350-40D7-F105974BC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3A56-E4F0-A6FE-6BFE-4ABE332B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D0E03B0-AF43-6D49-820A-B8F5E1B0E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478402"/>
              </p:ext>
            </p:extLst>
          </p:nvPr>
        </p:nvGraphicFramePr>
        <p:xfrm>
          <a:off x="838200" y="1291471"/>
          <a:ext cx="10515600" cy="5201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0754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36EC-4AD0-1A62-2C4E-ED5E0719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4D3E-D1E1-93C0-FA0F-99C8FE07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091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Multi Warp Simulation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DCA640-6ACE-384A-E446-30316E26C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224" y="1258529"/>
            <a:ext cx="8209552" cy="5234346"/>
          </a:xfrm>
        </p:spPr>
      </p:pic>
    </p:spTree>
    <p:extLst>
      <p:ext uri="{BB962C8B-B14F-4D97-AF65-F5344CB8AC3E}">
        <p14:creationId xmlns:p14="http://schemas.microsoft.com/office/powerpoint/2010/main" val="3956199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2199-A2F2-FB4A-7311-33A28814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E4B0-9371-6D4C-4C0A-A3A2B3BAC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Multi Warp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F8F0826-6B02-E760-8B26-CC702027F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2645" y="1071716"/>
            <a:ext cx="7226709" cy="562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02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03CC-EE61-3AFA-7FD8-B48EF084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A591-7CB8-5F52-85E6-C3F885B9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494"/>
          </a:xfrm>
        </p:spPr>
        <p:txBody>
          <a:bodyPr>
            <a:normAutofit/>
          </a:bodyPr>
          <a:lstStyle/>
          <a:p>
            <a:r>
              <a:rPr lang="en-US" dirty="0" err="1"/>
              <a:t>CacheBandit</a:t>
            </a:r>
            <a:r>
              <a:rPr lang="en-US" dirty="0"/>
              <a:t>: Multi Warp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89F58C-5E10-D2CE-F43B-FA50FF4CB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226039"/>
              </p:ext>
            </p:extLst>
          </p:nvPr>
        </p:nvGraphicFramePr>
        <p:xfrm>
          <a:off x="838200" y="1272619"/>
          <a:ext cx="10586884" cy="5220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9056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EA6F-E943-D3E0-A94E-591083DC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D01B-76DE-CD1B-DEA0-453D3E45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Multi Warp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C1740A-C97F-4E35-8AFE-70B92B8B5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590980"/>
              </p:ext>
            </p:extLst>
          </p:nvPr>
        </p:nvGraphicFramePr>
        <p:xfrm>
          <a:off x="838200" y="1357460"/>
          <a:ext cx="10515600" cy="5135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0760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1108-80EE-4023-B548-5C820173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376"/>
            <a:ext cx="10515600" cy="1121507"/>
          </a:xfrm>
        </p:spPr>
        <p:txBody>
          <a:bodyPr>
            <a:normAutofit/>
          </a:bodyPr>
          <a:lstStyle/>
          <a:p>
            <a:r>
              <a:rPr lang="en-US" dirty="0" err="1"/>
              <a:t>CacheBandit</a:t>
            </a:r>
            <a:r>
              <a:rPr lang="en-US" dirty="0"/>
              <a:t>: Single Warp Template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CA892E-6228-0463-C240-2F26BD1CB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00" y="1734534"/>
            <a:ext cx="10520099" cy="3853144"/>
          </a:xfrm>
        </p:spPr>
      </p:pic>
    </p:spTree>
    <p:extLst>
      <p:ext uri="{BB962C8B-B14F-4D97-AF65-F5344CB8AC3E}">
        <p14:creationId xmlns:p14="http://schemas.microsoft.com/office/powerpoint/2010/main" val="1514874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4B7F-2C75-7EC5-E645-13C1C121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Implementation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DA11-E929-2714-C6DB-4DCD4EA7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Parts:</a:t>
            </a:r>
          </a:p>
          <a:p>
            <a:pPr lvl="1" algn="just"/>
            <a:r>
              <a:rPr lang="en-US" dirty="0"/>
              <a:t>(1) Allocator: Provide solution to thread upon cache line request.</a:t>
            </a:r>
          </a:p>
          <a:p>
            <a:pPr lvl="1" algn="just"/>
            <a:r>
              <a:rPr lang="en-US" dirty="0"/>
              <a:t>(2) Virtual L1: Tag store, comparator hardware.</a:t>
            </a:r>
          </a:p>
          <a:p>
            <a:pPr lvl="1" algn="just"/>
            <a:r>
              <a:rPr lang="en-US" dirty="0"/>
              <a:t>(2) Deallocator: Reclaim cache lines upon hitting utilization threshold.</a:t>
            </a:r>
          </a:p>
          <a:p>
            <a:pPr lvl="1" algn="just"/>
            <a:r>
              <a:rPr lang="en-US" dirty="0"/>
              <a:t>(4) Memory Controller: DMA with DRAM memory.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Sub-modules allocator and deallocator are ported from </a:t>
            </a:r>
            <a:r>
              <a:rPr lang="en-US" dirty="0" err="1"/>
              <a:t>QuickPage</a:t>
            </a:r>
            <a:r>
              <a:rPr lang="en-US" dirty="0"/>
              <a:t>(Lite).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MCU and Virtual L1 tag array still need to be worked out.</a:t>
            </a:r>
          </a:p>
        </p:txBody>
      </p:sp>
    </p:spTree>
    <p:extLst>
      <p:ext uri="{BB962C8B-B14F-4D97-AF65-F5344CB8AC3E}">
        <p14:creationId xmlns:p14="http://schemas.microsoft.com/office/powerpoint/2010/main" val="1228762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B07D-C79E-D21F-2C0A-D359252F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DBCC-4645-D61E-0E33-23B0F8B7F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1541"/>
            <a:ext cx="10515600" cy="3735421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US" dirty="0"/>
              <a:t>Eliminates conflict-miss within a SIMT core.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Template design reduces design overhead.</a:t>
            </a:r>
          </a:p>
          <a:p>
            <a:pPr algn="just"/>
            <a:r>
              <a:rPr lang="en-US" dirty="0"/>
              <a:t>Scalable in terms of both:</a:t>
            </a:r>
          </a:p>
          <a:p>
            <a:pPr lvl="1" algn="just"/>
            <a:r>
              <a:rPr lang="en-US" dirty="0"/>
              <a:t>Managed Cache capacity.</a:t>
            </a:r>
          </a:p>
          <a:p>
            <a:pPr lvl="1" algn="just"/>
            <a:r>
              <a:rPr lang="en-US" dirty="0"/>
              <a:t>Core frequency.</a:t>
            </a:r>
          </a:p>
        </p:txBody>
      </p:sp>
    </p:spTree>
    <p:extLst>
      <p:ext uri="{BB962C8B-B14F-4D97-AF65-F5344CB8AC3E}">
        <p14:creationId xmlns:p14="http://schemas.microsoft.com/office/powerpoint/2010/main" val="1690625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59512-9D63-DFE0-EE3F-18B7FB0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97FF-F649-2D1C-8C9E-0C5BC63A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1542"/>
            <a:ext cx="10515600" cy="3735421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US" dirty="0"/>
              <a:t>Implementation cost grows with core frequency and managed page size (solution space).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Still very dependent on memory access pattern.</a:t>
            </a:r>
          </a:p>
          <a:p>
            <a:pPr algn="just">
              <a:spcAft>
                <a:spcPts val="1200"/>
              </a:spcAft>
            </a:pPr>
            <a:r>
              <a:rPr lang="en-US" dirty="0"/>
              <a:t>Not a standalone solution, and requires pre-processing such as access pattern profiling to set dynamic sets.</a:t>
            </a:r>
          </a:p>
        </p:txBody>
      </p:sp>
    </p:spTree>
    <p:extLst>
      <p:ext uri="{BB962C8B-B14F-4D97-AF65-F5344CB8AC3E}">
        <p14:creationId xmlns:p14="http://schemas.microsoft.com/office/powerpoint/2010/main" val="3274280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E14B-E72A-A99F-1E96-DD5A12B2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/>
          <a:lstStyle/>
          <a:p>
            <a:r>
              <a:rPr lang="en-US" dirty="0" err="1"/>
              <a:t>CacheBandit</a:t>
            </a:r>
            <a:r>
              <a:rPr lang="en-US" dirty="0"/>
              <a:t>: QPL Resource Dependency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C3114E-0049-415D-943C-FAD66EB197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813097"/>
              </p:ext>
            </p:extLst>
          </p:nvPr>
        </p:nvGraphicFramePr>
        <p:xfrm>
          <a:off x="838200" y="1160206"/>
          <a:ext cx="10515600" cy="5332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3737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0134-63E3-3136-5A58-F1C4D6F6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5067-78BC-DC36-F2D9-8CE11684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[1] Efficient Computation of Sparse Matrix Functions for Large-Scale Electronic Structure Calculations: The </a:t>
            </a:r>
            <a:r>
              <a:rPr lang="en-US" dirty="0" err="1"/>
              <a:t>CheSS</a:t>
            </a:r>
            <a:r>
              <a:rPr lang="en-US" dirty="0"/>
              <a:t> Library, Stephan Mohr,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[2] Multi-level </a:t>
            </a:r>
            <a:r>
              <a:rPr lang="el-GR" dirty="0"/>
              <a:t>μ-</a:t>
            </a:r>
            <a:r>
              <a:rPr lang="en-US" dirty="0"/>
              <a:t>Finite Element Analysis for Human Bone Structures, Peter Arbenz,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[3] Sparse Matrix Algebra for Quantum Modeling of Large Systems, Emanuel H. Rubensson,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[4] </a:t>
            </a:r>
            <a:r>
              <a:rPr lang="en-US" dirty="0" err="1"/>
              <a:t>SparseGPT</a:t>
            </a:r>
            <a:r>
              <a:rPr lang="en-US" dirty="0"/>
              <a:t>: Massive Language Models Can be Accurately Pruned in One-Shot, Elias </a:t>
            </a:r>
            <a:r>
              <a:rPr lang="en-US" dirty="0" err="1"/>
              <a:t>Frantar</a:t>
            </a:r>
            <a:r>
              <a:rPr lang="en-US" dirty="0"/>
              <a:t>, Dan </a:t>
            </a:r>
            <a:r>
              <a:rPr lang="en-US" dirty="0" err="1"/>
              <a:t>Alistarh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[5] Sparse Linear Algebra Toolkit for Computational Aerodynamics, Stephen L. Wood,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[6] DAMOV: A New Methodology and Benchmark Suite for Evaluating Data Movement Bottlenecks, Geraldo F. Oliveira,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[8] NVIDIA AMPERE GA102 GPU ARCHITECTURE (white paper)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[9] CUDA Programming A Developer’s Guide to Parallel Computing with GPUs, Shane Cook (book)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[10] Understanding Latency Hiding on GPUs, Vasily Volkov (PhD)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[11] Reducing Cache Contention On GPUs, </a:t>
            </a:r>
            <a:r>
              <a:rPr lang="en-US" dirty="0" err="1"/>
              <a:t>Kyoshin</a:t>
            </a:r>
            <a:r>
              <a:rPr lang="en-US" dirty="0"/>
              <a:t> Choo (PhD)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[12] Optimization of sparse matrix–vector multiplication on emerging multicore platforms, Samuel Williams,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[13] A Streaming Dataflow Engine for Sparse Matrix-Vector Multiplication using High-Level Synthesis, Mohammad </a:t>
            </a:r>
            <a:r>
              <a:rPr lang="en-US" dirty="0" err="1"/>
              <a:t>Hosseinabady</a:t>
            </a:r>
            <a:r>
              <a:rPr lang="en-US" dirty="0"/>
              <a:t>, and Jose Luis Nunez-Yanez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[14] Efficient Algorithm Design of Optimizing </a:t>
            </a:r>
            <a:r>
              <a:rPr lang="en-US" dirty="0" err="1"/>
              <a:t>SpMV</a:t>
            </a:r>
            <a:r>
              <a:rPr lang="en-US" dirty="0"/>
              <a:t> on GPU, </a:t>
            </a:r>
            <a:r>
              <a:rPr lang="en-US" dirty="0" err="1"/>
              <a:t>Genshen</a:t>
            </a:r>
            <a:r>
              <a:rPr lang="en-US" dirty="0"/>
              <a:t> Chu,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[15] Locality-Aware CTA Clustering for Modern GPUs, Ang Li, et.al. (includes Prof. Akash Kumar)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[16] OWL: Cooperative Thread Array Aware Scheduling Techniques for Improving GPGPU Performance, Adwait Jog, et.al. (includes Prof. Onur Mutlu)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[17] Locality-Based Cache Management and Warp Scheduling for Reducing Cache Contention in GPU, Juan Fang,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[18] Warp Scheduling for Fine-Grained Synchronization, Ahmed </a:t>
            </a:r>
            <a:r>
              <a:rPr lang="en-US" dirty="0" err="1"/>
              <a:t>ElTantawy</a:t>
            </a:r>
            <a:r>
              <a:rPr lang="en-US" dirty="0"/>
              <a:t>, Tor M. Aamodt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[19] An Efficient GPU Cache Architecture for Applications with Irregular Memory Access Patterns, </a:t>
            </a:r>
            <a:r>
              <a:rPr lang="en-US" dirty="0" err="1"/>
              <a:t>Bingchao</a:t>
            </a:r>
            <a:r>
              <a:rPr lang="en-US" dirty="0"/>
              <a:t> Li,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[20] ATA-Cache: Contention Mitigation for GPU Shared L1 Cache with Aggregated Tag Array, </a:t>
            </a:r>
            <a:r>
              <a:rPr lang="en-US" dirty="0" err="1"/>
              <a:t>Xiangrong</a:t>
            </a:r>
            <a:r>
              <a:rPr lang="en-US" dirty="0"/>
              <a:t> Xu, et.al.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dirty="0"/>
              <a:t>[21] Dynamically linked MSHRs for adaptive miss handling in GPUs, </a:t>
            </a:r>
            <a:r>
              <a:rPr lang="en-US" dirty="0" err="1"/>
              <a:t>Yongbin</a:t>
            </a:r>
            <a:r>
              <a:rPr lang="en-US" dirty="0"/>
              <a:t> Gu, </a:t>
            </a:r>
            <a:r>
              <a:rPr lang="en-US" dirty="0" err="1"/>
              <a:t>Lizhong</a:t>
            </a:r>
            <a:r>
              <a:rPr lang="en-US" dirty="0"/>
              <a:t> Chen</a:t>
            </a:r>
          </a:p>
        </p:txBody>
      </p:sp>
    </p:spTree>
    <p:extLst>
      <p:ext uri="{BB962C8B-B14F-4D97-AF65-F5344CB8AC3E}">
        <p14:creationId xmlns:p14="http://schemas.microsoft.com/office/powerpoint/2010/main" val="317494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3F37-81FF-92F4-4986-A7960E43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21940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4316</TotalTime>
  <Words>1433</Words>
  <Application>Microsoft Office PowerPoint</Application>
  <PresentationFormat>Widescreen</PresentationFormat>
  <Paragraphs>152</Paragraphs>
  <Slides>39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CacheBandit</vt:lpstr>
      <vt:lpstr>Introduction</vt:lpstr>
      <vt:lpstr>Introduction</vt:lpstr>
      <vt:lpstr>Introduction: Memory Bottleneck Classes</vt:lpstr>
      <vt:lpstr>Introduction: Near Data Processing (NDP)</vt:lpstr>
      <vt:lpstr>Case Study: SpMV</vt:lpstr>
      <vt:lpstr>SpMV: Representation</vt:lpstr>
      <vt:lpstr>Problem: Cache Resource Contention</vt:lpstr>
      <vt:lpstr>Problem:</vt:lpstr>
      <vt:lpstr>Problem:</vt:lpstr>
      <vt:lpstr>Problem:</vt:lpstr>
      <vt:lpstr>Problem</vt:lpstr>
      <vt:lpstr>Problem: Embedded Platform</vt:lpstr>
      <vt:lpstr>Problem:</vt:lpstr>
      <vt:lpstr>Problem:</vt:lpstr>
      <vt:lpstr>Solution Space Exploration:</vt:lpstr>
      <vt:lpstr>CacheBandit: Goals</vt:lpstr>
      <vt:lpstr>CacheBandit: Hypothesis</vt:lpstr>
      <vt:lpstr>CacheBandit:</vt:lpstr>
      <vt:lpstr>CacheBandit: Flow</vt:lpstr>
      <vt:lpstr>CacheBandit: Single Warp Simulation</vt:lpstr>
      <vt:lpstr>CacheBandit:</vt:lpstr>
      <vt:lpstr>CacheBandit:</vt:lpstr>
      <vt:lpstr>CacheBandit: Performance Metrics</vt:lpstr>
      <vt:lpstr>CacheBandit:</vt:lpstr>
      <vt:lpstr>CacheBandit:</vt:lpstr>
      <vt:lpstr>CacheBandit: Dynamic Virtual Sets</vt:lpstr>
      <vt:lpstr>CacheBandit:</vt:lpstr>
      <vt:lpstr>CacheBandit: Multi Warp Simulation</vt:lpstr>
      <vt:lpstr>CacheBandit: Multi Warp</vt:lpstr>
      <vt:lpstr>CacheBandit: Multi Warp Metrics</vt:lpstr>
      <vt:lpstr>CacheBandit: Multi Warp</vt:lpstr>
      <vt:lpstr>CacheBandit: Single Warp Template</vt:lpstr>
      <vt:lpstr>CacheBandit: Implementation Roadmap</vt:lpstr>
      <vt:lpstr>CacheBandit: Advantages</vt:lpstr>
      <vt:lpstr>CacheBandit: Tradeoffs</vt:lpstr>
      <vt:lpstr>CacheBandit: QPL Resource Dependency</vt:lpstr>
      <vt:lpstr>Bibliography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</dc:creator>
  <cp:lastModifiedBy> </cp:lastModifiedBy>
  <cp:revision>40</cp:revision>
  <dcterms:created xsi:type="dcterms:W3CDTF">2025-07-29T18:32:55Z</dcterms:created>
  <dcterms:modified xsi:type="dcterms:W3CDTF">2025-08-26T22:44:15Z</dcterms:modified>
</cp:coreProperties>
</file>